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E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cue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822960"/>
            <a:ext cx="2926080" cy="9422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16916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D4ED8"/>
                </a:solidFill>
              </a:defRPr>
            </a:pPr>
            <a:r>
              <a:t>CUESTA PARTNERS · TAKE-HOME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E223D"/>
                </a:solidFill>
              </a:defRPr>
            </a:pPr>
            <a:r>
              <a:rPr dirty="0" err="1"/>
              <a:t>Evaluación</a:t>
            </a:r>
            <a:r>
              <a:rPr dirty="0"/>
              <a:t> </a:t>
            </a:r>
            <a:r>
              <a:rPr dirty="0" err="1"/>
              <a:t>Inmobiliaria</a:t>
            </a:r>
            <a:r>
              <a:rPr dirty="0"/>
              <a:t> </a:t>
            </a:r>
            <a:r>
              <a:rPr dirty="0" err="1"/>
              <a:t>Basada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Analíticos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1097280" y="4663440"/>
            <a:ext cx="987552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4800600"/>
            <a:ext cx="9326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223D"/>
                </a:solidFill>
              </a:defRPr>
            </a:pPr>
            <a:r>
              <a:t>Daniel Alejandro Córdoba Pulido</a:t>
            </a:r>
          </a:p>
          <a:p>
            <a:pPr>
              <a:spcBef>
                <a:spcPts val="300"/>
              </a:spcBef>
              <a:defRPr sz="1200" b="1">
                <a:solidFill>
                  <a:srgbClr val="1D4ED8"/>
                </a:solidFill>
              </a:defRPr>
            </a:pPr>
            <a:r>
              <a:t>Data Scientist Candidate · Take-home Assessment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Evaluación Técnica para Cuesta Partners | Caso Clearview Properties | Agosto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E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CLEARVIEW PROPERTIES · CONSULTORÍA ESTRATÉGICA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223D"/>
                </a:solidFill>
              </a:defRPr>
            </a:pPr>
            <a:r>
              <a:t>Resumen Ejecutivo: 4 Preguntas Clave, 4 Respuestas con Datos</a:t>
            </a:r>
          </a:p>
        </p:txBody>
      </p:sp>
      <p:pic>
        <p:nvPicPr>
          <p:cNvPr id="5" name="Picture 4" descr="logo_cue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75488"/>
            <a:ext cx="1554480" cy="5005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21208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223D"/>
                </a:solidFill>
              </a:defRPr>
            </a:pPr>
            <a:r>
              <a:t>Q1 · RANGO DE LISTADO OBJETIVO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Estrategia de 3 Niveles (+16.3% / -13.6%)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• Cobertura real verificada del 80% del mercado.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• Techo optimista para capturar mayor valor.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• Piso de seguridad para cierres rápidos y negociación.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• Cero estimaciones 'a ojo' en la agencia.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223D"/>
                </a:solidFill>
              </a:defRPr>
            </a:pPr>
            <a:r>
              <a:t>Q2 · MOTORES DEL VALOR DE VIVIENDA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60% Chasis Estructural vs. 40% Modificables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• Calidad General: +$20,424 por cada punto.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• Metraje y sótano definen la base de precio.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• Baños y cocina determinan el incremento de valor.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• 12 variables explican el 91% del precio.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21208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114799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223D"/>
                </a:solidFill>
              </a:defRPr>
            </a:pPr>
            <a:r>
              <a:t>Q3 · PRIORIZACIÓN DE REFORMAS (ROI)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Quick Wins de Alta Rentabilidad Comercial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• Baño adicional: +$9,688 (inversión estrella).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• Pavimentar entrada: +$5,273 de valorización.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• Terminar garaje: +$3,025 con obra mínima.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• Desaconsejada: Chimeneas desde cero por alto costo.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77639"/>
            <a:ext cx="5212080" cy="2423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4114799"/>
            <a:ext cx="48463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223D"/>
                </a:solidFill>
              </a:defRPr>
            </a:pPr>
            <a:r>
              <a:t>Q4 · SEGMENTOS Y OPORTUNIDAD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3 Niveles y Oportunidad de Valorización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• Alto ($238k), Medio ($137k), Entrada ($112k).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• Hallazgo clave: Entrada tiene 0% pavimento vehicular.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</a:defRPr>
            </a:pPr>
            <a:r>
              <a:t>• Oportunidad: Invertir $3k en pavimento desbloquea salto de +$24,400 a nivel Medio.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E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CLEARVIEW PROPERTIES · CONSULTORÍA ESTRATÉGICA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223D"/>
                </a:solidFill>
              </a:defRPr>
            </a:pPr>
            <a:r>
              <a:t>Fundamento y Calidad de la Información Histórica</a:t>
            </a:r>
          </a:p>
        </p:txBody>
      </p:sp>
      <p:pic>
        <p:nvPicPr>
          <p:cNvPr id="5" name="Picture 4" descr="logo_cue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75488"/>
            <a:ext cx="1554480" cy="5005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223D"/>
                </a:solidFill>
              </a:defRPr>
            </a:pPr>
            <a:r>
              <a:t>Auditoría Rigurosa de 2,963 Transacciones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Para que las conclusiones comerciales sean válidas, primero identificamos y corregimos 8 anomalías críticas no documentadas en el archivo del cliente: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Precios Centinela y Errores: Eliminación de precios falsos ($9,999,999 y capturas con ceros de más) y corrección de signos negativos.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Duplicados Operativos: Identificación de dobles registros para el mismo inmueble y fecha.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Inconsistencias de Años: Corrección de inmuebles con fecha de remodelación o garaje inconsistente con el año de construcción.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Nulos Estructurales: Tratamiento correcto según catálogo: 'Sin Garaje' o 'Sin Sótano' son categorías reales, no datos perdidos.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223D"/>
                </a:solidFill>
              </a:defRPr>
            </a:pPr>
            <a:r>
              <a:t>Principio de Confianza para Clearview</a:t>
            </a:r>
          </a:p>
          <a:p>
            <a:pPr>
              <a:spcBef>
                <a:spcPts val="1000"/>
              </a:spcBef>
              <a:defRPr sz="1200" i="1">
                <a:solidFill>
                  <a:srgbClr val="1E293B"/>
                </a:solidFill>
              </a:defRPr>
            </a:pPr>
            <a:r>
              <a:t>“Ninguna recomendación comercial es confiable si se construye sobre datos distorsionados.”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Resultado del Saneamiento Analítico:</a:t>
            </a:r>
            <a:br/>
            <a:br/>
            <a:r>
              <a:t>✔ Base depurada de 2,877 propiedades reales.</a:t>
            </a:r>
            <a:br/>
            <a:r>
              <a:t>✔ 100% de trazabilidad en cada decisión metodológica.</a:t>
            </a:r>
            <a:br/>
            <a:r>
              <a:t>✔ Margen de error acotado al 9.4% promedio (±$16,500 en valor absoluto), entregando precisión de grado institucional para la agencia.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E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CLEARVIEW PROPERTIES · CONSULTORÍA ESTRATÉGICA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223D"/>
                </a:solidFill>
              </a:defRPr>
            </a:pPr>
            <a:r>
              <a:t>Q1 · ¿A qué precio listar? La Estrategia Comercial de 3 Niveles</a:t>
            </a:r>
          </a:p>
        </p:txBody>
      </p:sp>
      <p:pic>
        <p:nvPicPr>
          <p:cNvPr id="5" name="Picture 4" descr="logo_cue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75488"/>
            <a:ext cx="1554480" cy="500595"/>
          </a:xfrm>
          <a:prstGeom prst="rect">
            <a:avLst/>
          </a:prstGeom>
        </p:spPr>
      </p:pic>
      <p:pic>
        <p:nvPicPr>
          <p:cNvPr id="6" name="Picture 5" descr="fig_q1_b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5852160" cy="295895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371600"/>
            <a:ext cx="45720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0" y="15544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223D"/>
                </a:solidFill>
              </a:defRPr>
            </a:pPr>
            <a:r>
              <a:t>Superando la Falsa Certeza del 'Punto Fijo'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Dar un solo número genera frustración. El modelo construye un intervalo empírico proporcional: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1. Techo de Salida (+16.3%): Precio de listado optimista para capturar el máximo valor en mercados activos o ante compradores especiales.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2. Estimación Central (100%): Valor justo de mercado derivado de las 12 características clave. Punto de partida de la negociación.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3. Piso de Negociación (-13.6%): Límite de seguridad para cierres rápidos o margen de concesión en contraofertas.</a:t>
            </a:r>
          </a:p>
          <a:p>
            <a:pPr>
              <a:spcBef>
                <a:spcPts val="1000"/>
              </a:spcBef>
              <a:defRPr sz="1200" b="1">
                <a:solidFill>
                  <a:srgbClr val="0E223D"/>
                </a:solidFill>
              </a:defRPr>
            </a:pPr>
            <a:r>
              <a:t>✔ Cobertura verificada: 8 de cada 10 propiedades se venden dentro de este rango.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E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CLEARVIEW PROPERTIES · CONSULTORÍA ESTRATÉGICA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223D"/>
                </a:solidFill>
              </a:defRPr>
            </a:pPr>
            <a:r>
              <a:t>Q1 en la Práctica · Guía de Conversación con el Propietario</a:t>
            </a:r>
          </a:p>
        </p:txBody>
      </p:sp>
      <p:pic>
        <p:nvPicPr>
          <p:cNvPr id="5" name="Picture 4" descr="logo_cue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75488"/>
            <a:ext cx="1554480" cy="5005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3291840" cy="37490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223D"/>
                </a:solidFill>
              </a:defRPr>
            </a:pPr>
            <a:r>
              <a:t>Techo de Salida (+16.3%)</a:t>
            </a:r>
          </a:p>
          <a:p>
            <a:pPr>
              <a:spcBef>
                <a:spcPts val="400"/>
              </a:spcBef>
              <a:defRPr sz="1200" b="1">
                <a:solidFill>
                  <a:srgbClr val="1E293B"/>
                </a:solidFill>
              </a:defRPr>
            </a:pPr>
            <a:r>
              <a:t>Ejemplo: $209,300 (casa base $180k)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¿Cuándo usarlo?</a:t>
            </a:r>
            <a:br/>
            <a:r>
              <a:t>• Propietario sin urgencia de venta.</a:t>
            </a:r>
            <a:br/>
            <a:r>
              <a:t>• Temporada alta (primavera/verano).</a:t>
            </a:r>
            <a:br/>
            <a:r>
              <a:t>• Acabados destacados frente a vecinos.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37490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50876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223D"/>
                </a:solidFill>
              </a:defRPr>
            </a:pPr>
            <a:r>
              <a:t>Estimación Central de Mercado</a:t>
            </a:r>
          </a:p>
          <a:p>
            <a:pPr>
              <a:spcBef>
                <a:spcPts val="400"/>
              </a:spcBef>
              <a:defRPr sz="1200" b="1">
                <a:solidFill>
                  <a:srgbClr val="1E293B"/>
                </a:solidFill>
              </a:defRPr>
            </a:pPr>
            <a:r>
              <a:t>Ejemplo: $180,000 (Referencia base)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¿Cómo presentarlo?</a:t>
            </a:r>
            <a:br/>
            <a:r>
              <a:t>• Tasación respaldada por comparables.</a:t>
            </a:r>
            <a:br/>
            <a:r>
              <a:t>• Ancla racional para fijar expectativas y defender la comisión de Clearview.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291840" cy="37490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83879" y="150876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223D"/>
                </a:solidFill>
              </a:defRPr>
            </a:pPr>
            <a:r>
              <a:t>Piso de Negociación (-13.6%)</a:t>
            </a:r>
          </a:p>
          <a:p>
            <a:pPr>
              <a:spcBef>
                <a:spcPts val="400"/>
              </a:spcBef>
              <a:defRPr sz="1200" b="1">
                <a:solidFill>
                  <a:srgbClr val="1E293B"/>
                </a:solidFill>
              </a:defRPr>
            </a:pPr>
            <a:r>
              <a:t>Ejemplo: $155,500 (Límite seguridad)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¿Para qué sirve?</a:t>
            </a:r>
            <a:br/>
            <a:r>
              <a:t>• Cierre garantizado en menos de 30 días.</a:t>
            </a:r>
            <a:br/>
            <a:r>
              <a:t>• Piso de no aceptación ante ofertas agresivas de compradores.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0704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223D"/>
                </a:solidFill>
              </a:defRPr>
            </a:pPr>
            <a:r>
              <a:t>Impacto Inmediato en la Fuerza Comercial: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Los brókers reducen el tiempo de cotización de días a minutos, eliminan la discrepancia entre agentes y transmiten autoridad técnica ante el cliente.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E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CLEARVIEW PROPERTIES · CONSULTORÍA ESTRATÉGICA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223D"/>
                </a:solidFill>
              </a:defRPr>
            </a:pPr>
            <a:r>
              <a:t>Q2 · ¿Qué Determina Realmente el Precio de una Propiedad?</a:t>
            </a:r>
          </a:p>
        </p:txBody>
      </p:sp>
      <p:pic>
        <p:nvPicPr>
          <p:cNvPr id="5" name="Picture 4" descr="logo_cue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75488"/>
            <a:ext cx="1554480" cy="500595"/>
          </a:xfrm>
          <a:prstGeom prst="rect">
            <a:avLst/>
          </a:prstGeom>
        </p:spPr>
      </p:pic>
      <p:pic>
        <p:nvPicPr>
          <p:cNvPr id="6" name="Picture 5" descr="fig_q2_dri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6035040" cy="298361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49440" y="1371600"/>
            <a:ext cx="448056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1554480"/>
            <a:ext cx="4114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223D"/>
                </a:solidFill>
              </a:defRPr>
            </a:pPr>
            <a:r>
              <a:t>Dos Fuerzas que Rigen el Mercado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1. El 'Chasis' Estructural (~60% del Valor):</a:t>
            </a:r>
            <a:br/>
            <a:r>
              <a:t>Son las condiciones intrínsecas del inmueble (área habitable, sótano, año de construcción, garaje). Determinan el rango base de valor donde compite la casa.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2. Características Modificables (~40% del Valor):</a:t>
            </a:r>
            <a:br/>
            <a:r>
              <a:t>Son las decisiones que el propietario sí puede intervenir antes de salir a vender (calidad de cocina, baños, vigencia de remodelación, pavimento). Determinan si la casa se vende en el techo o en el piso de su rango.</a:t>
            </a:r>
          </a:p>
          <a:p>
            <a:pPr>
              <a:spcBef>
                <a:spcPts val="1000"/>
              </a:spcBef>
              <a:defRPr sz="1200" b="1">
                <a:solidFill>
                  <a:srgbClr val="0E223D"/>
                </a:solidFill>
              </a:defRPr>
            </a:pPr>
            <a:r>
              <a:t>✔ Mensaje para el Propietario: No podemos cambiar el año de construcción, pero sí activar las características modificables que capturan el 40% del valor.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E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CLEARVIEW PROPERTIES · CONSULTORÍA ESTRATÉGICA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223D"/>
                </a:solidFill>
              </a:defRPr>
            </a:pPr>
            <a:r>
              <a:t>Q2 en Cifras · Impacto Marginal en Dólares por Característica</a:t>
            </a:r>
          </a:p>
        </p:txBody>
      </p:sp>
      <p:pic>
        <p:nvPicPr>
          <p:cNvPr id="5" name="Picture 4" descr="logo_cue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75488"/>
            <a:ext cx="1554480" cy="5005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223D"/>
                </a:solidFill>
              </a:defRPr>
            </a:pPr>
            <a:r>
              <a:t>Impacto de Factores Estructurales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Calidad General de Construcción: +$20,424 por punto (escala 1 a 10)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Metros Cuadrados Habitables: +0.42% en precio por cada +1% de área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Superficie del Sótano: +$34 por pie cuadrado (+$3,400 / 100 sqft)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Capacidad del Garaje: +$8,589 por plaza de auto adicional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Año de Construcción: +$1,940 por cada década más moderna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223D"/>
                </a:solidFill>
              </a:defRPr>
            </a:pPr>
            <a:r>
              <a:t>Impacto de Características Modificables</a:t>
            </a:r>
          </a:p>
          <a:p>
            <a:pPr>
              <a:spcBef>
                <a:spcPts val="500"/>
              </a:spcBef>
              <a:defRPr sz="1200">
                <a:solidFill>
                  <a:srgbClr val="1E293B"/>
                </a:solidFill>
              </a:defRPr>
            </a:pPr>
            <a:r>
              <a:t>• Por cada Baño Completo adicional:</a:t>
            </a:r>
            <a:br/>
            <a:r>
              <a:t>  La casa se valoriza en +$9,688 (+$4,844 medio baño)</a:t>
            </a:r>
          </a:p>
          <a:p>
            <a:pPr>
              <a:spcBef>
                <a:spcPts val="500"/>
              </a:spcBef>
              <a:defRPr sz="1200">
                <a:solidFill>
                  <a:srgbClr val="1E293B"/>
                </a:solidFill>
              </a:defRPr>
            </a:pPr>
            <a:r>
              <a:t>• Por Pavimentar la Entrada vehicular:</a:t>
            </a:r>
            <a:br/>
            <a:r>
              <a:t>  La casa se valoriza en +$5,273 frente a tierra/grava</a:t>
            </a:r>
          </a:p>
          <a:p>
            <a:pPr>
              <a:spcBef>
                <a:spcPts val="500"/>
              </a:spcBef>
              <a:defRPr sz="1200">
                <a:solidFill>
                  <a:srgbClr val="1E293B"/>
                </a:solidFill>
              </a:defRPr>
            </a:pPr>
            <a:r>
              <a:t>• Por Terminar el Interior del Garaje:</a:t>
            </a:r>
            <a:br/>
            <a:r>
              <a:t>  La casa se valoriza en +$3,025 (acabado y pintura)</a:t>
            </a:r>
          </a:p>
          <a:p>
            <a:pPr>
              <a:spcBef>
                <a:spcPts val="500"/>
              </a:spcBef>
              <a:defRPr sz="1200">
                <a:solidFill>
                  <a:srgbClr val="1E293B"/>
                </a:solidFill>
              </a:defRPr>
            </a:pPr>
            <a:r>
              <a:t>• Por Modernizar la Cocina estándar:</a:t>
            </a:r>
            <a:br/>
            <a:r>
              <a:t>  La casa recupera +$5,436 al superar el nivel estándar</a:t>
            </a:r>
          </a:p>
          <a:p>
            <a:pPr>
              <a:spcBef>
                <a:spcPts val="500"/>
              </a:spcBef>
              <a:defRPr sz="1200">
                <a:solidFill>
                  <a:srgbClr val="1E293B"/>
                </a:solidFill>
              </a:defRPr>
            </a:pPr>
            <a:r>
              <a:t>• Por cada Década de Remodelación:</a:t>
            </a:r>
            <a:br/>
            <a:r>
              <a:t>  La casa se valoriza en +$3,220 por actualización reciente</a:t>
            </a:r>
          </a:p>
          <a:p>
            <a:pPr>
              <a:spcBef>
                <a:spcPts val="500"/>
              </a:spcBef>
              <a:defRPr sz="1200">
                <a:solidFill>
                  <a:srgbClr val="1E293B"/>
                </a:solidFill>
              </a:defRPr>
            </a:pPr>
            <a:r>
              <a:t>• Por Construir Chimenea desde cero:</a:t>
            </a:r>
            <a:br/>
            <a:r>
              <a:t>  Suma +$11,340, pero el costo de obra supera los $11,000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E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CLEARVIEW PROPERTIES · CONSULTORÍA ESTRATÉGICA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223D"/>
                </a:solidFill>
              </a:defRPr>
            </a:pPr>
            <a:r>
              <a:t>Q3 · ¿Qué mejoras son rentables? Retorno Financiero vs. Costo</a:t>
            </a:r>
          </a:p>
        </p:txBody>
      </p:sp>
      <p:pic>
        <p:nvPicPr>
          <p:cNvPr id="5" name="Picture 4" descr="logo_cue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75488"/>
            <a:ext cx="1554480" cy="500595"/>
          </a:xfrm>
          <a:prstGeom prst="rect">
            <a:avLst/>
          </a:prstGeom>
        </p:spPr>
      </p:pic>
      <p:pic>
        <p:nvPicPr>
          <p:cNvPr id="6" name="Picture 5" descr="fig_q3_matri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6035040" cy="298361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49440" y="1371600"/>
            <a:ext cx="448056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15087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223D"/>
                </a:solidFill>
              </a:defRPr>
            </a:pPr>
            <a:r>
              <a:rPr dirty="0" err="1"/>
              <a:t>Interpretación</a:t>
            </a:r>
            <a:r>
              <a:rPr dirty="0"/>
              <a:t> de </a:t>
            </a:r>
            <a:r>
              <a:rPr dirty="0" err="1"/>
              <a:t>Negocio</a:t>
            </a:r>
            <a:r>
              <a:rPr dirty="0"/>
              <a:t> de las </a:t>
            </a:r>
            <a:r>
              <a:rPr dirty="0" err="1"/>
              <a:t>Reformas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rPr dirty="0"/>
              <a:t>1. Quick Wins (Alta </a:t>
            </a:r>
            <a:r>
              <a:rPr dirty="0" err="1"/>
              <a:t>Rentabilidad</a:t>
            </a:r>
            <a:r>
              <a:rPr dirty="0"/>
              <a:t>):</a:t>
            </a:r>
            <a:br>
              <a:rPr dirty="0"/>
            </a:br>
            <a:r>
              <a:rPr dirty="0"/>
              <a:t>• Baño </a:t>
            </a:r>
            <a:r>
              <a:rPr dirty="0" err="1"/>
              <a:t>Adicional</a:t>
            </a:r>
            <a:r>
              <a:rPr dirty="0"/>
              <a:t>: Valor </a:t>
            </a:r>
            <a:r>
              <a:rPr dirty="0" err="1"/>
              <a:t>agregado</a:t>
            </a:r>
            <a:r>
              <a:rPr dirty="0"/>
              <a:t> de +$9,688 </a:t>
            </a:r>
            <a:r>
              <a:rPr dirty="0" err="1"/>
              <a:t>frente</a:t>
            </a:r>
            <a:r>
              <a:rPr dirty="0"/>
              <a:t> a un </a:t>
            </a:r>
            <a:r>
              <a:rPr dirty="0" err="1"/>
              <a:t>costo</a:t>
            </a:r>
            <a:r>
              <a:rPr dirty="0"/>
              <a:t> de ~$4,500 (</a:t>
            </a:r>
            <a:r>
              <a:rPr dirty="0" err="1"/>
              <a:t>Retorno</a:t>
            </a:r>
            <a:r>
              <a:rPr dirty="0"/>
              <a:t> superior al 100%).</a:t>
            </a:r>
            <a:br>
              <a:rPr dirty="0"/>
            </a:br>
            <a:r>
              <a:rPr dirty="0"/>
              <a:t>• </a:t>
            </a:r>
            <a:r>
              <a:rPr dirty="0" err="1"/>
              <a:t>Pavimentación</a:t>
            </a:r>
            <a:r>
              <a:rPr dirty="0"/>
              <a:t>: Valor </a:t>
            </a:r>
            <a:r>
              <a:rPr dirty="0" err="1"/>
              <a:t>agregado</a:t>
            </a:r>
            <a:r>
              <a:rPr dirty="0"/>
              <a:t> de +$5,273 </a:t>
            </a:r>
            <a:r>
              <a:rPr dirty="0" err="1"/>
              <a:t>frente</a:t>
            </a:r>
            <a:r>
              <a:rPr dirty="0"/>
              <a:t> a </a:t>
            </a:r>
            <a:r>
              <a:rPr dirty="0" err="1"/>
              <a:t>costo</a:t>
            </a:r>
            <a:r>
              <a:rPr dirty="0"/>
              <a:t> de ~$2,500.</a:t>
            </a:r>
            <a:br>
              <a:rPr dirty="0"/>
            </a:br>
            <a:r>
              <a:rPr dirty="0"/>
              <a:t>• </a:t>
            </a:r>
            <a:r>
              <a:rPr dirty="0" err="1"/>
              <a:t>Garaje</a:t>
            </a:r>
            <a:r>
              <a:rPr dirty="0"/>
              <a:t> </a:t>
            </a:r>
            <a:r>
              <a:rPr dirty="0" err="1"/>
              <a:t>Terminado</a:t>
            </a:r>
            <a:r>
              <a:rPr dirty="0"/>
              <a:t>: Valor </a:t>
            </a:r>
            <a:r>
              <a:rPr dirty="0" err="1"/>
              <a:t>agregado</a:t>
            </a:r>
            <a:r>
              <a:rPr dirty="0"/>
              <a:t> de +$3,025 </a:t>
            </a:r>
            <a:r>
              <a:rPr dirty="0" err="1"/>
              <a:t>frente</a:t>
            </a:r>
            <a:r>
              <a:rPr dirty="0"/>
              <a:t> a </a:t>
            </a:r>
            <a:r>
              <a:rPr dirty="0" err="1"/>
              <a:t>costo</a:t>
            </a:r>
            <a:r>
              <a:rPr dirty="0"/>
              <a:t> de ~$1,200.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rPr dirty="0"/>
              <a:t>2. </a:t>
            </a:r>
            <a:r>
              <a:rPr dirty="0" err="1"/>
              <a:t>Actualizaciones</a:t>
            </a:r>
            <a:r>
              <a:rPr dirty="0"/>
              <a:t> </a:t>
            </a:r>
            <a:r>
              <a:rPr dirty="0" err="1"/>
              <a:t>Recomendadas</a:t>
            </a:r>
            <a:r>
              <a:rPr dirty="0"/>
              <a:t>:</a:t>
            </a:r>
            <a:br>
              <a:rPr dirty="0"/>
            </a:br>
            <a:r>
              <a:rPr dirty="0"/>
              <a:t>• Cocina: </a:t>
            </a:r>
            <a:r>
              <a:rPr dirty="0" err="1"/>
              <a:t>Recupera</a:t>
            </a:r>
            <a:r>
              <a:rPr dirty="0"/>
              <a:t> +$5,436 con </a:t>
            </a:r>
            <a:r>
              <a:rPr dirty="0" err="1"/>
              <a:t>cambios</a:t>
            </a:r>
            <a:r>
              <a:rPr dirty="0"/>
              <a:t> </a:t>
            </a:r>
            <a:r>
              <a:rPr dirty="0" err="1"/>
              <a:t>cosméticos</a:t>
            </a:r>
            <a:r>
              <a:rPr dirty="0"/>
              <a:t> de </a:t>
            </a:r>
            <a:r>
              <a:rPr dirty="0" err="1"/>
              <a:t>encimera</a:t>
            </a:r>
            <a:r>
              <a:rPr dirty="0"/>
              <a:t>/</a:t>
            </a:r>
            <a:r>
              <a:rPr dirty="0" err="1"/>
              <a:t>muebles</a:t>
            </a:r>
            <a:r>
              <a:rPr dirty="0"/>
              <a:t> (~$4k de </a:t>
            </a:r>
            <a:r>
              <a:rPr dirty="0" err="1"/>
              <a:t>costo</a:t>
            </a:r>
            <a:r>
              <a:rPr dirty="0"/>
              <a:t>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rPr dirty="0"/>
              <a:t>3. </a:t>
            </a:r>
            <a:r>
              <a:rPr dirty="0" err="1"/>
              <a:t>Inversión</a:t>
            </a:r>
            <a:r>
              <a:rPr dirty="0"/>
              <a:t> </a:t>
            </a:r>
            <a:r>
              <a:rPr dirty="0" err="1"/>
              <a:t>Desaconsejada</a:t>
            </a:r>
            <a:r>
              <a:rPr dirty="0"/>
              <a:t>:</a:t>
            </a:r>
            <a:br>
              <a:rPr dirty="0"/>
            </a:br>
            <a:r>
              <a:rPr dirty="0"/>
              <a:t>• Chimenea </a:t>
            </a:r>
            <a:r>
              <a:rPr dirty="0" err="1"/>
              <a:t>desde</a:t>
            </a:r>
            <a:r>
              <a:rPr dirty="0"/>
              <a:t> cero: </a:t>
            </a:r>
            <a:r>
              <a:rPr dirty="0" err="1"/>
              <a:t>Aunque</a:t>
            </a:r>
            <a:r>
              <a:rPr dirty="0"/>
              <a:t> </a:t>
            </a:r>
            <a:r>
              <a:rPr dirty="0" err="1"/>
              <a:t>sube</a:t>
            </a:r>
            <a:r>
              <a:rPr dirty="0"/>
              <a:t> el </a:t>
            </a:r>
            <a:r>
              <a:rPr dirty="0" err="1"/>
              <a:t>precio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$11,340, la </a:t>
            </a:r>
            <a:r>
              <a:rPr dirty="0" err="1"/>
              <a:t>obra</a:t>
            </a:r>
            <a:r>
              <a:rPr dirty="0"/>
              <a:t> civil </a:t>
            </a:r>
            <a:r>
              <a:rPr dirty="0" err="1"/>
              <a:t>supera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$11,500 (</a:t>
            </a:r>
            <a:r>
              <a:rPr dirty="0" err="1"/>
              <a:t>riesgo</a:t>
            </a:r>
            <a:r>
              <a:rPr dirty="0"/>
              <a:t> de </a:t>
            </a:r>
            <a:r>
              <a:rPr dirty="0" err="1"/>
              <a:t>pérdida</a:t>
            </a:r>
            <a:r>
              <a:rPr dirty="0"/>
              <a:t>).</a:t>
            </a:r>
          </a:p>
          <a:p>
            <a:pPr>
              <a:spcBef>
                <a:spcPts val="500"/>
              </a:spcBef>
              <a:defRPr sz="950" i="1">
                <a:solidFill>
                  <a:srgbClr val="64748B"/>
                </a:solidFill>
              </a:defRPr>
            </a:pPr>
            <a:r>
              <a:rPr dirty="0"/>
              <a:t>* Fuentes de </a:t>
            </a:r>
            <a:r>
              <a:rPr dirty="0" err="1"/>
              <a:t>costos</a:t>
            </a:r>
            <a:r>
              <a:rPr dirty="0"/>
              <a:t>: Cost vs. Value Report (www.costvsvalue.com) &amp; NAHB (www.nahb.org); no </a:t>
            </a:r>
            <a:r>
              <a:rPr dirty="0" err="1"/>
              <a:t>provienen</a:t>
            </a:r>
            <a:r>
              <a:rPr dirty="0"/>
              <a:t> del dataset original y </a:t>
            </a:r>
            <a:r>
              <a:rPr dirty="0" err="1"/>
              <a:t>deben</a:t>
            </a:r>
            <a:r>
              <a:rPr dirty="0"/>
              <a:t> </a:t>
            </a:r>
            <a:r>
              <a:rPr dirty="0" err="1"/>
              <a:t>cotizarse</a:t>
            </a:r>
            <a:r>
              <a:rPr dirty="0"/>
              <a:t> con </a:t>
            </a:r>
            <a:r>
              <a:rPr dirty="0" err="1"/>
              <a:t>contratistas</a:t>
            </a:r>
            <a:r>
              <a:rPr dirty="0"/>
              <a:t> locales.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E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CLEARVIEW PROPERTIES · CONSULTORÍA ESTRATÉGICA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223D"/>
                </a:solidFill>
              </a:defRPr>
            </a:pPr>
            <a:r>
              <a:t>Q4 · Segmentación del Mercado de Cedar Falls</a:t>
            </a:r>
          </a:p>
        </p:txBody>
      </p:sp>
      <p:pic>
        <p:nvPicPr>
          <p:cNvPr id="5" name="Picture 4" descr="logo_cue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75488"/>
            <a:ext cx="1554480" cy="5005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329184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223D"/>
                </a:solidFill>
              </a:defRPr>
            </a:pPr>
            <a:r>
              <a:t>Segmento Alto ($237.6k)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Participación: 45.8% (1,317 viviendas)</a:t>
            </a:r>
            <a:br/>
            <a:br/>
            <a:r>
              <a:t>• Calidad General: 7.2 / 10</a:t>
            </a:r>
            <a:br/>
            <a:r>
              <a:t>• Año de Reforma: 2000 (Vigente)</a:t>
            </a:r>
            <a:br/>
            <a:r>
              <a:t>• Baños Totales: 2.8 baños</a:t>
            </a:r>
            <a:br/>
            <a:r>
              <a:t>• Entrada Pavimentada: 99.8%</a:t>
            </a:r>
            <a:br/>
            <a:r>
              <a:t>• Garaje Terminado: 46%</a:t>
            </a:r>
            <a:br/>
            <a:r>
              <a:t>• Cocina Superior: 88%</a:t>
            </a:r>
            <a:br/>
            <a:br/>
            <a:r>
              <a:t>Perfil: Propiedades premium, listas para habitar, sin necesidad de inversión.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50292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55448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Segmento Medio ($136.9k)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Participación: 44.7% (1,287 viviendas)</a:t>
            </a:r>
            <a:br/>
            <a:br/>
            <a:r>
              <a:t>• Calidad General: 5.3 / 10</a:t>
            </a:r>
            <a:br/>
            <a:r>
              <a:t>• Año de Reforma: 1971 (Antigua)</a:t>
            </a:r>
            <a:br/>
            <a:r>
              <a:t>• Baños Totales: 1.8 baños</a:t>
            </a:r>
            <a:br/>
            <a:r>
              <a:t>• Entrada Pavimentada: 100.0%</a:t>
            </a:r>
            <a:br/>
            <a:r>
              <a:t>• Garaje Terminado: 7.6%</a:t>
            </a:r>
            <a:br/>
            <a:r>
              <a:t>• Cocina Estándar: 87%</a:t>
            </a:r>
            <a:br/>
            <a:br/>
            <a:r>
              <a:t>Perfil: La vivienda típica familiar de Cedar Falls. Espacio para Quick Wins.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291840" cy="5029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83879" y="155448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45309"/>
                </a:solidFill>
              </a:defRPr>
            </a:pPr>
            <a:r>
              <a:t>Segmento Entrada ($112.5k)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Participación: 9.5% (273 viviendas)</a:t>
            </a:r>
            <a:br/>
            <a:br/>
            <a:r>
              <a:t>• Calidad General: 4.8 / 10</a:t>
            </a:r>
            <a:br/>
            <a:r>
              <a:t>• Año de Reforma: 1970</a:t>
            </a:r>
            <a:br/>
            <a:r>
              <a:t>• Baños Totales: 1.6 baños</a:t>
            </a:r>
            <a:br/>
            <a:r>
              <a:t>• Entrada Pavimentada: 0.0% (¡Ninguna!)</a:t>
            </a:r>
            <a:br/>
            <a:r>
              <a:t>• Garaje Terminado: 3.3%</a:t>
            </a:r>
            <a:br/>
            <a:r>
              <a:t>• Sin Chimenea: 75%</a:t>
            </a:r>
            <a:br/>
            <a:br/>
            <a:r>
              <a:t>Perfil: Calidad similar a Medio pero penalizada severamente por falta de pavimento.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E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CLEARVIEW PROPERTIES · CONSULTORÍA ESTRATÉGICA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223D"/>
                </a:solidFill>
              </a:defRPr>
            </a:pPr>
            <a:r>
              <a:t>Q4 · El Gran Hallazgo: Oportunidad de Valorización Rápida de $24,400</a:t>
            </a:r>
          </a:p>
        </p:txBody>
      </p:sp>
      <p:pic>
        <p:nvPicPr>
          <p:cNvPr id="5" name="Picture 4" descr="logo_cue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75488"/>
            <a:ext cx="1554480" cy="500595"/>
          </a:xfrm>
          <a:prstGeom prst="rect">
            <a:avLst/>
          </a:prstGeom>
        </p:spPr>
      </p:pic>
      <p:pic>
        <p:nvPicPr>
          <p:cNvPr id="6" name="Picture 5" descr="fig_q4_arbitraj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6400800" cy="26679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371600"/>
            <a:ext cx="411480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79" y="1554480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223D"/>
                </a:solidFill>
              </a:defRPr>
            </a:pPr>
            <a:r>
              <a:t>La Brecha Oculta de Entrada a Medio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Salto Alto vs. Medio (+$100k):</a:t>
            </a:r>
            <a:br/>
            <a:r>
              <a:t>Requiere reforma estructural integral y acabados premium. Difícil de salvar con inversión chica.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Salto Medio vs. Entrada (+$24.4k):</a:t>
            </a:r>
            <a:br/>
            <a:r>
              <a:t>La diferencia de calidad es mínima (4.8 vs 5.3), pero el 100% de las casas de Entrada carece de pavimento vehicular.</a:t>
            </a:r>
          </a:p>
          <a:p>
            <a:pPr>
              <a:spcBef>
                <a:spcPts val="1000"/>
              </a:spcBef>
              <a:defRPr sz="1200" b="1">
                <a:solidFill>
                  <a:srgbClr val="0E223D"/>
                </a:solidFill>
              </a:defRPr>
            </a:pPr>
            <a:r>
              <a:t>✔ Estrategia de Reposicionamiento:</a:t>
            </a:r>
            <a:br/>
            <a:r>
              <a:t>Una inversión de $2,000–$4,000 en pavimentar la entrada reposiciona la casa del segmento Entrada al segmento Medio, desbloqueando hasta $24,400 en precio de venta.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E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CLEARVIEW PROPERTIES · CONSULTORÍA ESTRATÉGICA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223D"/>
                </a:solidFill>
              </a:defRPr>
            </a:pPr>
            <a:r>
              <a:t>Plan de Acción Comercial para Implementar la Próxima Semana</a:t>
            </a:r>
          </a:p>
        </p:txBody>
      </p:sp>
      <p:pic>
        <p:nvPicPr>
          <p:cNvPr id="5" name="Picture 4" descr="logo_cue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75488"/>
            <a:ext cx="1554480" cy="5005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329184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223D"/>
                </a:solidFill>
              </a:defRPr>
            </a:pPr>
            <a:r>
              <a:t>1. Hoja de Cotización en 3 Niveles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Acción:</a:t>
            </a:r>
            <a:br/>
            <a:r>
              <a:t>Adoptar la banda empírica (+16.3% / -13.6%) como estándar en toda la agencia. Recordar que esta banda fue obtenida mediante una metodología analítica que esta en el jupyter notebook.</a:t>
            </a:r>
            <a:br/>
            <a:br/>
            <a:r>
              <a:t>Beneficios:</a:t>
            </a:r>
            <a:br/>
            <a:r>
              <a:t>• Tiempos de respuesta inmediatos.</a:t>
            </a:r>
            <a:br/>
            <a:r>
              <a:t>• Cero contradicciones entre agentes.</a:t>
            </a:r>
            <a:br/>
            <a:r>
              <a:t>• Argumentación objetiva frente al dueño para fijar el precio de salida.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55448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223D"/>
                </a:solidFill>
              </a:defRPr>
            </a:pPr>
            <a:r>
              <a:t>2. Checklist de Quick Wins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Acción:</a:t>
            </a:r>
            <a:br/>
            <a:r>
              <a:t>Entregar al propietario una lista de verificación de obras rentables antes de publicar.</a:t>
            </a:r>
            <a:br/>
            <a:br/>
            <a:r>
              <a:t>Beneficios:</a:t>
            </a:r>
            <a:br/>
            <a:r>
              <a:t>• Recomendar baños, pavimento y garaje.</a:t>
            </a:r>
            <a:br/>
            <a:r>
              <a:t>• Freno a inversiones destructoras (chimeneas).</a:t>
            </a:r>
            <a:br/>
            <a:r>
              <a:t>• Mayor precio de cierre = mayor comisión para Clearview.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29184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83879" y="155448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223D"/>
                </a:solidFill>
              </a:defRPr>
            </a:pPr>
            <a:r>
              <a:t>3. Captación y Reposicionamiento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Acción:</a:t>
            </a:r>
            <a:br/>
            <a:r>
              <a:t>Identificar activamente viviendas del segmento Entrada (sin pavimento) para inversores o vendedores.</a:t>
            </a:r>
            <a:br/>
            <a:br/>
            <a:r>
              <a:t>Beneficios:</a:t>
            </a:r>
            <a:br/>
            <a:r>
              <a:t>• Asesorar en la obra puntual de pavimentación ($3k).</a:t>
            </a:r>
            <a:br/>
            <a:r>
              <a:t>• Capturar la valorización de +$24k en la reventa rápida.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E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CLEARVIEW PROPERTIES · CONSULTORÍA ESTRATÉGICA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223D"/>
                </a:solidFill>
              </a:defRPr>
            </a:pPr>
            <a:r>
              <a:t>Supuestos, Limitaciones Transparentes y Siguientes Pasos</a:t>
            </a:r>
          </a:p>
        </p:txBody>
      </p:sp>
      <p:pic>
        <p:nvPicPr>
          <p:cNvPr id="5" name="Picture 4" descr="logo_cue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75488"/>
            <a:ext cx="1554480" cy="5005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223D"/>
                </a:solidFill>
              </a:defRPr>
            </a:pPr>
            <a:r>
              <a:t>Supuestos y Límites del Estudio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Fuentes y Costos de Remodelación: El dataset histórico registra únicamente características físicas y precios de venta, mas no presupuestos de obra. Los costos presentados corresponden a referencias de la industria (Cost vs. Value Report: www.costvsvalue.com y NAHB: www.nahb.org); deben validarse con contratistas locales de Cedar Falls.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Asociación vs. Causalidad: El modelo mide valorizaciones históricas de mercado. En remodelaciones integrales, parte del valor responde a la correlación con otros factores de calidad constructiva.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Actualización Temporal: Se recomienda calibrar anualmente los multiplicadores ante ciclos macroeconómicos o variaciones en tasas de interés.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223D"/>
                </a:solidFill>
              </a:defRPr>
            </a:pPr>
            <a:r>
              <a:t>Hoja de Ruta y Siguientes Pasos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✔ Fase 1 (Semana 1): Capacitación a brókers en la Estrategia de 3 Niveles y Checklist de Quick Wins.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✔ Fase 2 (Mes 1): Alianza con 2-3 contratistas de Cedar Falls para cotizaciones fijas y rápidas en baños y pavimentación.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✔ Fase 3 (Trimestre 1): Desarrollo de un cotizador digital interactivo (Web / Tablet) para que el bróker ingrese las 12 características frente al cliente y obtenga la valuación instantánea.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✔ Sesión de Trabajo: Espacio de preguntas, retroalimentación y acuerdos con la Dirección General.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2112</Words>
  <Application>Microsoft Office PowerPoint</Application>
  <PresentationFormat>Widescreen</PresentationFormat>
  <Paragraphs>123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Cordoba</cp:lastModifiedBy>
  <cp:revision>2</cp:revision>
  <dcterms:created xsi:type="dcterms:W3CDTF">2013-01-27T09:14:16Z</dcterms:created>
  <dcterms:modified xsi:type="dcterms:W3CDTF">2026-08-27T17:13:16Z</dcterms:modified>
  <cp:category/>
</cp:coreProperties>
</file>