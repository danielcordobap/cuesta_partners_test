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822960"/>
            <a:ext cx="2926080" cy="942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1691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D4ED8"/>
                </a:solidFill>
              </a:defRPr>
            </a:pPr>
            <a:r>
              <a:t>CUESTA PARTNERS · TAKE-HOME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E223D"/>
                </a:solidFill>
              </a:defRPr>
            </a:pPr>
            <a:r>
              <a:rPr dirty="0" err="1"/>
              <a:t>Evaluación</a:t>
            </a:r>
            <a:r>
              <a:rPr dirty="0"/>
              <a:t> </a:t>
            </a:r>
            <a:r>
              <a:rPr dirty="0" err="1"/>
              <a:t>Inmobiliaria</a:t>
            </a:r>
            <a:r>
              <a:rPr dirty="0"/>
              <a:t> </a:t>
            </a:r>
            <a:r>
              <a:rPr dirty="0" err="1"/>
              <a:t>Basada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Analíticos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1097280" y="4663440"/>
            <a:ext cx="987552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800600"/>
            <a:ext cx="9326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223D"/>
                </a:solidFill>
              </a:defRPr>
            </a:pPr>
            <a:r>
              <a:t>Daniel Alejandro Córdoba Pulido</a:t>
            </a:r>
          </a:p>
          <a:p>
            <a:pPr>
              <a:spcBef>
                <a:spcPts val="300"/>
              </a:spcBef>
              <a:defRPr sz="1200" b="1">
                <a:solidFill>
                  <a:srgbClr val="1D4ED8"/>
                </a:solidFill>
              </a:defRPr>
            </a:pPr>
            <a:r>
              <a:t>Data Scientist Candidate · Take-home Assessment</a:t>
            </a:r>
          </a:p>
          <a:p>
            <a:pPr>
              <a:spcBef>
                <a:spcPts val="400"/>
              </a:spcBef>
              <a:defRPr sz="1200">
                <a:solidFill>
                  <a:srgbClr val="64748B"/>
                </a:solidFill>
              </a:defRPr>
            </a:pPr>
            <a:r>
              <a:t>Evaluación Técnica para Cuesta Partners | Caso Clearview Properties | Agosto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Resumen Ejecutivo: 4 Preguntas Clave, 4 Respuestas con Datos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Q1 · RANGO DE LISTADO OBJETIVO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Estrategia de 3 Niveles (+16.3% / -13.6%)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Cobertura real verificada del 80% del mercado.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Techo optimista para capturar mayor valor.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Piso de seguridad para cierres rápidos y negociación.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Cero estimaciones 'a ojo' en la agencia.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Q2 · MOTORES DEL VALOR DE VIVIENDA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60% Chasis Estructural vs. 40% Modificables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Calidad General: +$20,424 por cada punto.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Metraje y sótano definen la base de precio.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Baños y cocina determinan el incremento de valor.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12 variables explican el 91% del precio.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114799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Q3 · PRIORIZACIÓN DE REFORMAS (ROI)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Quick Wins de Alta Rentabilidad Comercial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Baño adicional: +$9,688 (inversión estrella).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Pavimentar entrada: +$5,273 de valorización.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Terminar garaje: +$3,025 con obra mínima.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Desaconsejada: Chimeneas desde cero por alto costo.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77639"/>
            <a:ext cx="5212080" cy="2423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4114799"/>
            <a:ext cx="4846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Q4 · SEGMENTOS Y OPORTUNIDAD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3 Niveles y Oportunidad de Valorización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Alto ($238k), Medio ($137k), Entrada ($112k).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Hallazgo clave: Entrada tiene 0% pavimento vehicular.</a:t>
            </a:r>
          </a:p>
          <a:p>
            <a:pPr>
              <a:spcBef>
                <a:spcPts val="300"/>
              </a:spcBef>
              <a:defRPr sz="1200">
                <a:solidFill>
                  <a:srgbClr val="1E293B"/>
                </a:solidFill>
              </a:defRPr>
            </a:pPr>
            <a:r>
              <a:t>• Oportunidad: Invertir $3k en pavimento desbloquea salto de +$24,400 a nivel Medio.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Fundamento y Calidad de la Información Histórica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Auditoría Rigurosa de 2,963 Transacciones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Para que las conclusiones comerciales sean válidas, primero identificamos y corregimos 8 anomalías críticas no documentadas en el archivo del cliente: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Precios Centinela y Errores: Eliminación de precios falsos ($9,999,999 y capturas con ceros de más) y corrección de signos negativos.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Duplicados Operativos: Identificación de dobles registros para el mismo inmueble y fecha.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Inconsistencias de Años: Corrección de inmuebles con fecha de remodelación o garaje inconsistente con el año de construcción.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Nulos Estructurales: Tratamiento correcto según catálogo: 'Sin Garaje' o 'Sin Sótano' son categorías reales, no datos perdidos.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Principio de Confianza para Clearview</a:t>
            </a:r>
          </a:p>
          <a:p>
            <a:pPr>
              <a:spcBef>
                <a:spcPts val="1000"/>
              </a:spcBef>
              <a:defRPr sz="1200" i="1">
                <a:solidFill>
                  <a:srgbClr val="1E293B"/>
                </a:solidFill>
              </a:defRPr>
            </a:pPr>
            <a:r>
              <a:t>“Ninguna recomendación comercial es confiable si se construye sobre datos distorsionados.”</a:t>
            </a:r>
          </a:p>
          <a:p>
            <a:pPr>
              <a:spcBef>
                <a:spcPts val="1200"/>
              </a:spcBef>
              <a:defRPr sz="1200">
                <a:solidFill>
                  <a:srgbClr val="1E293B"/>
                </a:solidFill>
              </a:defRPr>
            </a:pPr>
            <a:r>
              <a:t>Resultado del Saneamiento Analítico:</a:t>
            </a:r>
            <a:br/>
            <a:br/>
            <a:r>
              <a:t>✔ Base depurada de 2,877 propiedades reales.</a:t>
            </a:r>
            <a:br/>
            <a:r>
              <a:t>✔ 100% de trazabilidad en cada decisión metodológica.</a:t>
            </a:r>
            <a:br/>
            <a:r>
              <a:t>✔ Margen de error acotado al 9.4% promedio (±$16,500 en valor absoluto), entregando precisión de grado institucional para la agencia.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Q1 · ¿A qué precio listar? La Estrategia Comercial de 3 Niveles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1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5852160" cy="295895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371600"/>
            <a:ext cx="45720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0" y="1554480"/>
            <a:ext cx="4206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Superando la Falsa Certeza del 'Punto Fijo'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Dar un solo número genera frustración. El modelo construye un intervalo empírico proporcional: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1. Techo de Salida (+16.3%): Precio de listado optimista para capturar el máximo valor en mercados activos o ante compradores especiales.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2. Estimación Central (100%): Valor justo de mercado derivado de las 12 características clave. Punto de partida de la negociación.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3. Piso de Negociación (-13.6%): Límite de seguridad para cierres rápidos o margen de concesión en contraofertas.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Cobertura verificada: 8 de cada 10 propiedades se venden dentro de este rango.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Q1 en la Práctica · Guía de Conversación con el Propietario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Techo de Salida (+16.3%)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$209,300 (casa base $180k)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¿Cuándo usarlo?</a:t>
            </a:r>
            <a:br/>
            <a:r>
              <a:t>• Propietario sin urgencia de venta.</a:t>
            </a:r>
            <a:br/>
            <a:r>
              <a:t>• Temporada alta (primavera/verano).</a:t>
            </a:r>
            <a:br/>
            <a:r>
              <a:t>• Acabados destacados frente a vecinos.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Estimación Central de Mercado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$180,000 (Referencia base)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¿Cómo presentarlo?</a:t>
            </a:r>
            <a:br/>
            <a:r>
              <a:t>• Tasación respaldada por comparables.</a:t>
            </a:r>
            <a:br/>
            <a:r>
              <a:t>• Ancla racional para fijar expectativas y defender la comisión de Clearview.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374903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0876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Piso de Negociación (-13.6%)</a:t>
            </a:r>
          </a:p>
          <a:p>
            <a:pPr>
              <a:spcBef>
                <a:spcPts val="400"/>
              </a:spcBef>
              <a:defRPr sz="1200" b="1">
                <a:solidFill>
                  <a:srgbClr val="1E293B"/>
                </a:solidFill>
              </a:defRPr>
            </a:pPr>
            <a:r>
              <a:t>Ejemplo: $155,500 (Límite seguridad)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¿Para qué sirve?</a:t>
            </a:r>
            <a:br/>
            <a:r>
              <a:t>• Cierre rápido garantizado.</a:t>
            </a:r>
            <a:br/>
            <a:r>
              <a:t>• Piso de no aceptación ante ofertas agresivas de compradores.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07040" cy="1097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94960"/>
            <a:ext cx="10241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Impacto Inmediato en la Fuerza Comercial:</a:t>
            </a:r>
          </a:p>
          <a:p>
            <a:pPr>
              <a:spcBef>
                <a:spcPts val="200"/>
              </a:spcBef>
              <a:defRPr sz="1200">
                <a:solidFill>
                  <a:srgbClr val="1E293B"/>
                </a:solidFill>
              </a:defRPr>
            </a:pPr>
            <a:r>
              <a:t>Los brókers reducen el tiempo de cotización de días a minutos, eliminan la discrepancia entre agentes y transmiten autoridad técnica ante el cliente.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Q2 · ¿Qué Determina Realmente el Precio de una Propiedad?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2_dri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035040" cy="298361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371600"/>
            <a:ext cx="44805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55448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Dos Fuerzas que Rigen el Mercado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1. El 'Chasis' Estructural (~60% del Valor):</a:t>
            </a:r>
            <a:br/>
            <a:r>
              <a:t>Son las condiciones intrínsecas del inmueble (área habitable, sótano, año de construcción, garaje). Determinan el rango base de valor donde compite la casa.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</a:defRPr>
            </a:pPr>
            <a:r>
              <a:t>2. Características Modificables (~40% del Valor):</a:t>
            </a:r>
            <a:br/>
            <a:r>
              <a:t>Son las decisiones que el propietario sí puede intervenir antes de salir a vender (calidad de cocina, baños, vigencia de remodelación, pavimento). Determinan si la casa se vende en el techo o en el piso de su rango.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Mensaje para el Propietario: No podemos cambiar el año de construcción, pero sí activar las características modificables que capturan el 40% del valor.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Q2 en Cifras · Impacto Marginal en Dólares por Característica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75488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/>
              <a:t>Impacto de </a:t>
            </a:r>
            <a:r>
              <a:rPr dirty="0" err="1"/>
              <a:t>Factores</a:t>
            </a:r>
            <a:r>
              <a:rPr dirty="0"/>
              <a:t> </a:t>
            </a:r>
            <a:r>
              <a:rPr dirty="0" err="1"/>
              <a:t>Estructurales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Calidad General de </a:t>
            </a:r>
            <a:r>
              <a:rPr dirty="0" err="1"/>
              <a:t>Construcción</a:t>
            </a:r>
            <a:r>
              <a:rPr dirty="0"/>
              <a:t>: +$20,424 </a:t>
            </a:r>
            <a:r>
              <a:rPr dirty="0" err="1"/>
              <a:t>por</a:t>
            </a:r>
            <a:r>
              <a:rPr dirty="0"/>
              <a:t> punto (</a:t>
            </a:r>
            <a:r>
              <a:rPr dirty="0" err="1"/>
              <a:t>escala</a:t>
            </a:r>
            <a:r>
              <a:rPr dirty="0"/>
              <a:t> 1 a 10)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Metros </a:t>
            </a:r>
            <a:r>
              <a:rPr dirty="0" err="1"/>
              <a:t>Cuadrados</a:t>
            </a:r>
            <a:r>
              <a:rPr dirty="0"/>
              <a:t> </a:t>
            </a:r>
            <a:r>
              <a:rPr dirty="0" err="1"/>
              <a:t>Habitables</a:t>
            </a:r>
            <a:r>
              <a:rPr dirty="0"/>
              <a:t>: </a:t>
            </a:r>
            <a:r>
              <a:rPr lang="es-ES" dirty="0"/>
              <a:t>$41 por pie cuadrado, ($4100/100sqft).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Superficie</a:t>
            </a:r>
            <a:r>
              <a:rPr dirty="0"/>
              <a:t> del </a:t>
            </a:r>
            <a:r>
              <a:rPr dirty="0" err="1"/>
              <a:t>Sótano</a:t>
            </a:r>
            <a:r>
              <a:rPr dirty="0"/>
              <a:t>: +$34 </a:t>
            </a:r>
            <a:r>
              <a:rPr dirty="0" err="1"/>
              <a:t>por</a:t>
            </a:r>
            <a:r>
              <a:rPr dirty="0"/>
              <a:t> pie </a:t>
            </a:r>
            <a:r>
              <a:rPr dirty="0" err="1"/>
              <a:t>cuadrado</a:t>
            </a:r>
            <a:r>
              <a:rPr dirty="0"/>
              <a:t> (+$3,400 / 100 </a:t>
            </a:r>
            <a:r>
              <a:rPr dirty="0" err="1"/>
              <a:t>sqft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</a:t>
            </a:r>
            <a:r>
              <a:rPr dirty="0" err="1"/>
              <a:t>Capacidad</a:t>
            </a:r>
            <a:r>
              <a:rPr dirty="0"/>
              <a:t> del </a:t>
            </a:r>
            <a:r>
              <a:rPr dirty="0" err="1"/>
              <a:t>Garaje</a:t>
            </a:r>
            <a:r>
              <a:rPr dirty="0"/>
              <a:t>: +$8,589 </a:t>
            </a:r>
            <a:r>
              <a:rPr dirty="0" err="1"/>
              <a:t>por</a:t>
            </a:r>
            <a:r>
              <a:rPr dirty="0"/>
              <a:t> plaza de auto </a:t>
            </a:r>
            <a:r>
              <a:rPr dirty="0" err="1"/>
              <a:t>adicional</a:t>
            </a:r>
            <a:endParaRPr dirty="0"/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Año de </a:t>
            </a:r>
            <a:r>
              <a:rPr dirty="0" err="1"/>
              <a:t>Construcción</a:t>
            </a:r>
            <a:r>
              <a:rPr dirty="0"/>
              <a:t>: +$1,940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década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moderna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/>
              <a:t>Impacto de </a:t>
            </a:r>
            <a:r>
              <a:rPr dirty="0" err="1"/>
              <a:t>Características</a:t>
            </a:r>
            <a:r>
              <a:rPr dirty="0"/>
              <a:t> </a:t>
            </a:r>
            <a:r>
              <a:rPr dirty="0" err="1"/>
              <a:t>Modificables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cada</a:t>
            </a:r>
            <a:r>
              <a:rPr dirty="0"/>
              <a:t> Baño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+$9,688 (+$4,844 medio </a:t>
            </a:r>
            <a:r>
              <a:rPr dirty="0" err="1"/>
              <a:t>baño</a:t>
            </a:r>
            <a:r>
              <a:rPr dirty="0"/>
              <a:t>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Pavimentar</a:t>
            </a:r>
            <a:r>
              <a:rPr dirty="0"/>
              <a:t> la Entrada vehicular: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+$5,273 </a:t>
            </a:r>
            <a:r>
              <a:rPr dirty="0" err="1"/>
              <a:t>frente</a:t>
            </a:r>
            <a:r>
              <a:rPr dirty="0"/>
              <a:t> a tierra/</a:t>
            </a:r>
            <a:r>
              <a:rPr dirty="0" err="1"/>
              <a:t>grava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Terminar</a:t>
            </a:r>
            <a:r>
              <a:rPr dirty="0"/>
              <a:t> el Interior del </a:t>
            </a:r>
            <a:r>
              <a:rPr dirty="0" err="1"/>
              <a:t>Garaje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+$3,025 (</a:t>
            </a:r>
            <a:r>
              <a:rPr dirty="0" err="1"/>
              <a:t>acabado</a:t>
            </a:r>
            <a:r>
              <a:rPr dirty="0"/>
              <a:t> y pintura)</a:t>
            </a:r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Modernizar</a:t>
            </a:r>
            <a:r>
              <a:rPr dirty="0"/>
              <a:t> la Cocina </a:t>
            </a:r>
            <a:r>
              <a:rPr dirty="0" err="1"/>
              <a:t>estándar</a:t>
            </a:r>
            <a:r>
              <a:rPr dirty="0"/>
              <a:t>:</a:t>
            </a:r>
            <a:br>
              <a:rPr dirty="0"/>
            </a:br>
            <a:r>
              <a:rPr dirty="0"/>
              <a:t>  La casa </a:t>
            </a:r>
            <a:r>
              <a:rPr dirty="0" err="1"/>
              <a:t>recupera</a:t>
            </a:r>
            <a:r>
              <a:rPr dirty="0"/>
              <a:t> +$5,436 al </a:t>
            </a:r>
            <a:r>
              <a:rPr dirty="0" err="1"/>
              <a:t>superar</a:t>
            </a:r>
            <a:r>
              <a:rPr dirty="0"/>
              <a:t> el </a:t>
            </a:r>
            <a:r>
              <a:rPr dirty="0" err="1"/>
              <a:t>nivel</a:t>
            </a:r>
            <a:r>
              <a:rPr dirty="0"/>
              <a:t> </a:t>
            </a:r>
            <a:r>
              <a:rPr dirty="0" err="1"/>
              <a:t>estándar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Década</a:t>
            </a:r>
            <a:r>
              <a:rPr dirty="0"/>
              <a:t> de </a:t>
            </a:r>
            <a:r>
              <a:rPr dirty="0" err="1"/>
              <a:t>Remodelación</a:t>
            </a:r>
            <a:r>
              <a:rPr dirty="0"/>
              <a:t>:</a:t>
            </a:r>
            <a:br>
              <a:rPr dirty="0"/>
            </a:br>
            <a:r>
              <a:rPr dirty="0"/>
              <a:t>  La casa se </a:t>
            </a:r>
            <a:r>
              <a:rPr dirty="0" err="1"/>
              <a:t>valoriza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+$3,220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actualización</a:t>
            </a:r>
            <a:r>
              <a:rPr dirty="0"/>
              <a:t> </a:t>
            </a:r>
            <a:r>
              <a:rPr dirty="0" err="1"/>
              <a:t>reciente</a:t>
            </a:r>
            <a:endParaRPr dirty="0"/>
          </a:p>
          <a:p>
            <a:pPr>
              <a:spcBef>
                <a:spcPts val="5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• Por </a:t>
            </a:r>
            <a:r>
              <a:rPr dirty="0" err="1"/>
              <a:t>Construir</a:t>
            </a:r>
            <a:r>
              <a:rPr dirty="0"/>
              <a:t> Chimenea </a:t>
            </a:r>
            <a:r>
              <a:rPr dirty="0" err="1"/>
              <a:t>desde</a:t>
            </a:r>
            <a:r>
              <a:rPr dirty="0"/>
              <a:t> cero:</a:t>
            </a:r>
            <a:br>
              <a:rPr dirty="0"/>
            </a:br>
            <a:r>
              <a:rPr dirty="0"/>
              <a:t>  Suma +$11,3</a:t>
            </a:r>
            <a:r>
              <a:rPr lang="es-ES" dirty="0"/>
              <a:t>05</a:t>
            </a:r>
            <a:r>
              <a:rPr dirty="0"/>
              <a:t>, </a:t>
            </a:r>
            <a:r>
              <a:rPr dirty="0" err="1"/>
              <a:t>pero</a:t>
            </a:r>
            <a:r>
              <a:rPr dirty="0"/>
              <a:t> el </a:t>
            </a:r>
            <a:r>
              <a:rPr dirty="0" err="1"/>
              <a:t>costo</a:t>
            </a:r>
            <a:r>
              <a:rPr dirty="0"/>
              <a:t> de </a:t>
            </a:r>
            <a:r>
              <a:rPr dirty="0" err="1"/>
              <a:t>obra</a:t>
            </a:r>
            <a:r>
              <a:rPr dirty="0"/>
              <a:t> </a:t>
            </a:r>
            <a:r>
              <a:rPr dirty="0" err="1"/>
              <a:t>supera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$11,000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Q3 · ¿Qué mejoras son rentables? Ranking de Impacto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49440" y="1371600"/>
            <a:ext cx="448056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0" y="1508760"/>
            <a:ext cx="4114800" cy="4842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rPr dirty="0" err="1"/>
              <a:t>Interpretación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de las </a:t>
            </a:r>
            <a:r>
              <a:rPr dirty="0" err="1"/>
              <a:t>Reformas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1. Quick Wins (Alto Impacto):• Baño Adicional: Entrega un retorno promedio de +$9,688 por baño completo adicional (y +$4,844 por medio baño). Es la intervención puntual más sólida y universal del mercado.• Pavimentación: Genera una ganancia directa de +$5,273 en el precio. Es la llave estratégica y de bajo costo para sacar una propiedad del segmento más barato de la ciudad.• Garaje Terminado: Aporta +$3,025 a la tasación con un costo de obra mínimo (enlucido y pintura de paredes/cielos).</a:t>
            </a:r>
            <a:br>
              <a:rPr/>
            </a:b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2. Actualizaciones Recomendadas:• Cocina: Aconsejamos actualizar encimeras y mobiliario en cocinas de calidad promedio para recuperar +$5,436 de valor castigado por el mercado.</a:t>
            </a:r>
            <a:br>
              <a:rPr dirty="0"/>
            </a:b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rPr dirty="0"/>
              <a:t>3. Precaución de Inversión:• Chimenea desde cero: Aunque el impacto bruto es de +$11,305, el costo de construir tiros y ductos nuevos suele absorber o superar la ganancia, convirtiéndola en una inversión de alto riesgo para el vendedor.</a:t>
            </a:r>
            <a:br>
              <a:rPr dirty="0"/>
            </a:br>
            <a:endParaRPr dirty="0"/>
          </a:p>
          <a:p>
            <a:pPr>
              <a:spcBef>
                <a:spcPts val="500"/>
              </a:spcBef>
              <a:defRPr sz="950" i="1">
                <a:solidFill>
                  <a:srgbClr val="64748B"/>
                </a:solidFill>
              </a:defRPr>
            </a:pPr>
            <a:r>
              <a:rPr dirty="0"/>
              <a:t>* El dataset no incluye costos de remodelación — esto ordena impacto en el precio, no rentabilidad en dólares. Confirmar la rentabilidad real requiere cotizaciones de contratistas locales de Cedar Falls.</a:t>
            </a:r>
          </a:p>
        </p:txBody>
      </p:sp>
      <p:pic>
        <p:nvPicPr>
          <p:cNvPr id="9" name="Picture 8" descr="_slide8_chart_fixed_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035040" cy="2983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Q4 · Segmentación del Mercado de Cedar Falls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E22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Segmento Alto ($237.6k)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45.8% (1,317 viviendas)</a:t>
            </a:r>
            <a:br/>
            <a:br/>
            <a:r>
              <a:t>• Calidad General: 7.2 / 10</a:t>
            </a:r>
            <a:br/>
            <a:r>
              <a:t>• Año de Reforma: 2000 (Vigente)</a:t>
            </a:r>
            <a:br/>
            <a:r>
              <a:t>• Baños Totales: 2.8 baños</a:t>
            </a:r>
            <a:br/>
            <a:r>
              <a:t>• Entrada Pavimentada: 99.8%</a:t>
            </a:r>
            <a:br/>
            <a:r>
              <a:t>• Garaje Terminado: 46%</a:t>
            </a:r>
            <a:br/>
            <a:r>
              <a:t>• Cocina Superior: 88%</a:t>
            </a:r>
            <a:br/>
            <a:br/>
            <a:r>
              <a:t>Perfil: Propiedades premium, listas para habitar, sin necesidad de inversión.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50292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D4ED8"/>
                </a:solidFill>
              </a:defRPr>
            </a:pPr>
            <a:r>
              <a:t>Segmento Medio ($136.9k)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44.7% (1,287 viviendas)</a:t>
            </a:r>
            <a:br/>
            <a:br/>
            <a:r>
              <a:t>• Calidad General: 5.3 / 10</a:t>
            </a:r>
            <a:br/>
            <a:r>
              <a:t>• Año de Reforma: 1971 (Antigua)</a:t>
            </a:r>
            <a:br/>
            <a:r>
              <a:t>• Baños Totales: 1.8 baños</a:t>
            </a:r>
            <a:br/>
            <a:r>
              <a:t>• Entrada Pavimentada: 100.0%</a:t>
            </a:r>
            <a:br/>
            <a:r>
              <a:t>• Garaje Terminado: 7.6%</a:t>
            </a:r>
            <a:br/>
            <a:r>
              <a:t>• Cocina Estándar: 87%</a:t>
            </a:r>
            <a:br/>
            <a:br/>
            <a:r>
              <a:t>Perfil: La vivienda típica familiar de Cedar Falls. Espacio para Quick Wins.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5029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B45309"/>
                </a:solidFill>
              </a:defRPr>
            </a:pPr>
            <a:r>
              <a:t>Segmento Entrada ($112.5k)</a:t>
            </a:r>
          </a:p>
          <a:p>
            <a:pPr>
              <a:spcBef>
                <a:spcPts val="400"/>
              </a:spcBef>
              <a:defRPr sz="1200">
                <a:solidFill>
                  <a:srgbClr val="1E293B"/>
                </a:solidFill>
              </a:defRPr>
            </a:pPr>
            <a:r>
              <a:t>Participación: 9.5% (273 viviendas)</a:t>
            </a:r>
            <a:br/>
            <a:br/>
            <a:r>
              <a:t>• Calidad General: 4.8 / 10</a:t>
            </a:r>
            <a:br/>
            <a:r>
              <a:t>• Año de Reforma: 1970</a:t>
            </a:r>
            <a:br/>
            <a:r>
              <a:t>• Baños Totales: 1.6 baños</a:t>
            </a:r>
            <a:br/>
            <a:r>
              <a:t>• Entrada Pavimentada: 0.0% (¡Ninguna!)</a:t>
            </a:r>
            <a:br/>
            <a:r>
              <a:t>• Garaje Terminado: 3.3%</a:t>
            </a:r>
            <a:br/>
            <a:r>
              <a:t>• Sin Chimenea: 75%</a:t>
            </a:r>
            <a:br/>
            <a:br/>
            <a:r>
              <a:t>Perfil: Calidad similar a Medio pero penalizada severamente por falta de pavimento.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Q4 · El Gran Hallazgo: Oportunidad de Valorización Rápida de $24,400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pic>
        <p:nvPicPr>
          <p:cNvPr id="6" name="Picture 5" descr="fig_q4_arbitraj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1600"/>
            <a:ext cx="6400800" cy="266790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0" y="1371600"/>
            <a:ext cx="41148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La Brecha Oculta de Entrada a Medio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Salto Alto vs. Medio (+$100k):</a:t>
            </a:r>
            <a:br/>
            <a:r>
              <a:t>Requiere reforma estructural integral y acabados premium. Difícil de salvar con inversión chica.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• Salto Medio vs. Entrada (+$24.4k):</a:t>
            </a:r>
            <a:br/>
            <a:r>
              <a:t>La diferencia de calidad es mínima (4.8 vs 5.3), pero el 100% de las casas de Entrada carece de pavimento vehicular.</a:t>
            </a:r>
          </a:p>
          <a:p>
            <a:pPr>
              <a:spcBef>
                <a:spcPts val="1000"/>
              </a:spcBef>
              <a:defRPr sz="1200" b="1">
                <a:solidFill>
                  <a:srgbClr val="0E223D"/>
                </a:solidFill>
              </a:defRPr>
            </a:pPr>
            <a:r>
              <a:t>✔ Estrategia de Reposicionamiento:</a:t>
            </a:r>
            <a:br/>
            <a:r>
              <a:t>Una inversión de $2,000–$4,000 en pavimentar la entrada reposiciona la casa del segmento Entrada al segmento Medio, desbloqueando hasta $24,400 en precio de venta.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Plan de Acción Comercial para Implementar la Próxima Semana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1. Hoja de Cotización en 3 Niveles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Adoptar la banda empírica (+16.3% / -13.6%) como estándar en toda la agencia. Recordar que esta banda fue obtenida mediante una metodología analítica que esta en el jupyter notebook.</a:t>
            </a:r>
            <a:br/>
            <a:br/>
            <a:r>
              <a:t>Beneficios:</a:t>
            </a:r>
            <a:br/>
            <a:r>
              <a:t>• Tiempos de respuesta inmediatos.</a:t>
            </a:r>
            <a:br/>
            <a:r>
              <a:t>• Cero contradicciones entre agentes.</a:t>
            </a:r>
            <a:br/>
            <a:r>
              <a:t>• Argumentación objetiva frente al dueño para fijar el precio de salida.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80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2. Checklist de Quick Wins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Entregar al propietario una lista de verificación de obras rentables antes de publicar.</a:t>
            </a:r>
            <a:br/>
            <a:br/>
            <a:r>
              <a:t>Beneficios:</a:t>
            </a:r>
            <a:br/>
            <a:r>
              <a:t>• Recomendar baños, pavimento y garaje.</a:t>
            </a:r>
            <a:br/>
            <a:r>
              <a:t>• Freno a inversiones destructoras (chimeneas).</a:t>
            </a:r>
            <a:br/>
            <a:r>
              <a:t>• Mayor precio de cierre = mayor comisión para Clearview.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918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83879" y="1554480"/>
            <a:ext cx="30175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3. Captación y Reposicionamiento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Acción:</a:t>
            </a:r>
            <a:br/>
            <a:r>
              <a:t>Identificar activamente viviendas del segmento Entrada (sin pavimento) para inversores o vendedores.</a:t>
            </a:r>
            <a:br/>
            <a:br/>
            <a:r>
              <a:t>Beneficios:</a:t>
            </a:r>
            <a:br/>
            <a:r>
              <a:t>• Asesorar en la obra puntual de pavimentación ($3k).</a:t>
            </a:r>
            <a:br/>
            <a:r>
              <a:t>• Capturar la valorización de +$24k en la reventa rápida.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365760"/>
            <a:ext cx="10728655" cy="36576"/>
          </a:xfrm>
          <a:prstGeom prst="rect">
            <a:avLst/>
          </a:prstGeom>
          <a:solidFill>
            <a:srgbClr val="0E22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4ED8"/>
                </a:solidFill>
              </a:defRPr>
            </a:pPr>
            <a:r>
              <a:t>CLEARVIEW PROPERTIES · CONSULTORÍA ESTRATÉGICA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E223D"/>
                </a:solidFill>
              </a:defRPr>
            </a:pPr>
            <a:r>
              <a:t>Supuestos, Limitaciones Transparentes y Siguientes Pasos</a:t>
            </a:r>
          </a:p>
        </p:txBody>
      </p:sp>
      <p:pic>
        <p:nvPicPr>
          <p:cNvPr id="5" name="Picture 4" descr="logo_cue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75488"/>
            <a:ext cx="1554480" cy="5005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71600"/>
            <a:ext cx="512064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Supuestos y Límites del Estudio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Costos de Remodelación No Disponibles: El dataset histórico registra únicamente características físicas y precios de venta, no presupuestos de obra. Por eso Q3 ordena impacto en el precio, no rentabilidad en dólares — cerrar esa brecha requiere referencias reales de costo de remodelación para Cedar Falls, un paso siguiente recomendado, no algo disponible en este dataset.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Asociación vs. Causalidad: El modelo mide valorizaciones históricas de mercado. En remodelaciones integrales, parte del valor responde a la correlación con otros factores de calidad constructiva.</a:t>
            </a:r>
          </a:p>
          <a:p>
            <a:pPr>
              <a:spcBef>
                <a:spcPts val="600"/>
              </a:spcBef>
              <a:defRPr sz="1200">
                <a:solidFill>
                  <a:srgbClr val="1E293B"/>
                </a:solidFill>
              </a:defRPr>
            </a:pPr>
            <a:r>
              <a:t>• Actualización Temporal: Se recomienda calibrar anualmente los multiplicadores ante ciclos macroeconómicos o variaciones en tasas de interés.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223D"/>
                </a:solidFill>
              </a:defRPr>
            </a:pPr>
            <a:r>
              <a:t>Hoja de Ruta y Siguientes Pasos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1 (Semana 1): Capacitación a brókers en la Estrategia de 3 Niveles y Checklist de Quick Wins.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2 (Mes 1): Alianza con 2-3 contratistas de Cedar Falls para cotizaciones fijas y rápidas en baños y pavimentación.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Fase 3 (Trimestre 1): Desarrollo de un cotizador digital interactivo (Web / Tablet) para que el bróker ingrese las 12 características frente al cliente y obtenga la valuación instantánea.</a:t>
            </a:r>
          </a:p>
          <a:p>
            <a:pPr>
              <a:spcBef>
                <a:spcPts val="800"/>
              </a:spcBef>
              <a:defRPr sz="1200">
                <a:solidFill>
                  <a:srgbClr val="1E293B"/>
                </a:solidFill>
              </a:defRPr>
            </a:pPr>
            <a:r>
              <a:t>✔ Sesión de Trabajo: Espacio de preguntas, retroalimentación y acuerdos con la Dirección General.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2155</Words>
  <Application>Microsoft Office PowerPoint</Application>
  <PresentationFormat>Widescreen</PresentationFormat>
  <Paragraphs>123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Cordoba</cp:lastModifiedBy>
  <cp:revision>8</cp:revision>
  <dcterms:created xsi:type="dcterms:W3CDTF">2013-01-27T09:14:16Z</dcterms:created>
  <dcterms:modified xsi:type="dcterms:W3CDTF">2026-08-29T18:46:52Z</dcterms:modified>
  <cp:category/>
</cp:coreProperties>
</file>